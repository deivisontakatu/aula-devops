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debc5fdd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debc5fdd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f97b229d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f97b229d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092864d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092864d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92864d5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092864d5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92864d5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092864d5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092864d5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092864d5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092864d5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092864d5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092864d5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092864d5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092864d5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092864d5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092864d5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092864d5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092864d5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092864d5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aa37c3f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aa37c3f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f97b229d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f97b229d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a37c3f7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aa37c3f7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aa37c3f7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aa37c3f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aa37c3f7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aa37c3f7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a37c3f7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aa37c3f7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f97b229d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f97b229d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aa37c3f7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aa37c3f7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f97b229d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f97b229d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debc5fdd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debc5fd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aa37c3f7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aa37c3f7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aa37c3f7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aa37c3f7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09582297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09582297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aa37c3f7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aa37c3f7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debc5fdd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debc5fdd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aa37c3f7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aa37c3f7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aa37c3f7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aa37c3f7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debc5fdd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debc5fdd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f97b229dd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f97b229d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aa37c3f7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9aa37c3f7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dc9c88c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dc9c88c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Fundamentos DevOps, Git e CI/CD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 de entregar software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Entregas demoradas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Muitos erros em produção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Falta de comunicação entre equipes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Processos manuais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Dificuldade para corrigir bugs rapidamente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Atualizações geram medo e instabilidade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 sistema funcionava no computador do desenvolvedor, mas dá erro no servidor.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5236700" y="1152475"/>
            <a:ext cx="3595500" cy="1601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/>
              <a:t>Antes do DevOps, as áreas de desenvolvimento e infraestrutura trabalhavam separados.</a:t>
            </a:r>
            <a:br>
              <a:rPr lang="pt-BR" sz="1500"/>
            </a:br>
            <a:r>
              <a:rPr lang="pt-BR" sz="1500"/>
              <a:t> Isso causava atrasos, falhas e dificuldade para publicar novas versões do sistema.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 de entregar software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11340" l="0" r="0" t="0"/>
          <a:stretch/>
        </p:blipFill>
        <p:spPr>
          <a:xfrm>
            <a:off x="1081825" y="1009872"/>
            <a:ext cx="698034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DevOps: O Ciclo Infinito do Desenvolvimento Moderno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43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DevOps é uma cultura, filosofia e conjunto de práticas que integra as equipes de Desenvolvimento (DEV) e Operações (OPS), eliminando silos organizacionais e acelerando a entrega de software com qualidade e confiabilidade.</a:t>
            </a:r>
            <a:endParaRPr/>
          </a:p>
        </p:txBody>
      </p:sp>
      <p:pic>
        <p:nvPicPr>
          <p:cNvPr id="74" name="Google Shape;74;p16" title="DevO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9300" y="1017725"/>
            <a:ext cx="5504700" cy="35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 - Planejamento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planejamento é o ponto de partida do loop infinito. Nesta etapa, as equipes definem o que será desenvolvido, como e quando, utilizando metodologias ágeis para organizar prioridades, distribuir tarefas e alinhar expectativas entre produto, desenvolvimento e operações.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Jira Gestão de projetos ágeis com sprints, roadmaps e rastreabilidade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Trello Quadros Kanban visuais para equipes menores e gestão de tarefas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Azure Boards Planejamento integrado ao ecossistema Microsoft Azure DevOps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- Codificação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etapa de codificação é onde as ideias planejadas ganham forma técnica. Nesta fase, os desenvolvedores escrevem, revisam e versionam o código-fonte de forma colaborativa, garantindo rastreabilidade, segurança e qualidade desde o início.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Boas Práticas de Codificação no DevOps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Escrever código limpo e legível 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Utilizar ferramentas de desenvolvimentos (IDEs)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Manter testes 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Documentar o projeto.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BUILD - Compilação e Build Automatizado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etapa de Build transforma o código-fonte em um artefato executável — um arquivo JAR, imagem Docker, pacote NPM ou binário — pronto para ser testado e implantado. A automação deste processo elimina erros humanos e garante builds consistentes e reproduzíveis. Etapas: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Compilação: transformação do código-fonte em bytecode ou binário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Resolução de dependências: download automático de bibliotecas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Empacotamento: geração de JAR, WAR, ZIP, imagem Docker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Análise estática: verificação de qualidade de código (SonarQube)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Publicação de artefato: versionamento e armazenamento seguro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TEST - Testes Automatizados e Qualidade de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Testes automatizados são o guardião da qualidade no ciclo DevOps. Ao integrar testes diretamente no pipeline de CI/CD, problemas são detectados rapidamente - antes de chegarem ao usuário final. O objetivo é garantir que cada build seja confiável, funcional e seguro.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Exemplo</a:t>
            </a:r>
            <a:r>
              <a:rPr lang="pt-BR"/>
              <a:t>: Uma plataforma de delivery executa +3.000 testes automatizados a cada novo deploy. O pipeline </a:t>
            </a:r>
            <a:r>
              <a:rPr lang="pt-BR"/>
              <a:t>válida</a:t>
            </a:r>
            <a:r>
              <a:rPr lang="pt-BR"/>
              <a:t>: cálculo de frete, processamento de pagamentos, notificações push e fluxo completo de pedido - tudo em menos de 8 minutos, sem intervenção humana.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RELEASE - Liberação e Controle de Versões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etapa de Release é o ponto de decisão no pipeline DevOps: o software foi desenvolvido, compilado e testado - agora precisa ser aprovado, versionado e preparado para produção. É o momento em que qualidade e governança garantem que apenas código confiável avança.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 Release, o artefato gerado no Build recebe um número de versão semântica (ex: v2.4.1) seguindo o padrão Major.Minor.Patch. Gates de qualidade (Quality Gates) verificam cobertura de testes, análise de segurança e aprovação manual de stakeholders antes de avançar.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DEPLOY - Implantação Automatizada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Deploy é o momento em que o software aprovado é implantado nos ambientes de produção de forma automatizada, rápida e confiável. Com a cultura DevOps, implantações que antes levavam dias agora acontecem em minutos — com risco reduzido e reversão automática em caso de falha.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Exemplo</a:t>
            </a:r>
            <a:r>
              <a:rPr lang="pt-BR"/>
              <a:t>: Uma empresa de streaming possui 47 microsserviços independentes. Com Kubernetes no AWS EKS, cada serviço é implantado automaticamente via pipeline GitLab: a imagem Docker é construída, publicada no ECR (registry AWS) e o Kubernetes atualiza os pods em rolling update — sem downtime e com rollback automático se o health check falhar.;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OPERATE - Operação e Gestão de Infraestrutura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G</a:t>
            </a:r>
            <a:r>
              <a:rPr lang="pt-BR"/>
              <a:t>arante que a aplicação em produção permaneça estável, disponível e escalável. Com práticas de automação operacional, as equipes de Ops deixam de apagar incêndios manualmente e passam a gerenciar infraestrutura como código, respondendo proativamente a mudanças de demanda.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Exemplo</a:t>
            </a:r>
            <a:r>
              <a:rPr lang="pt-BR"/>
              <a:t>: Uma plataforma de streaming como o modelo Netflix opera com milhares de servidores globais. Durante horários de pico (novelas, jogos ao vivo), o Kubernetes aumenta automaticamente o número de réplicas dos serviços de transcodificação e entrega de conteúdo. O balanceamento de carga distribui requisições entre instâncias saudáveis, enquanto o Ansible garante configurações uniformes em todos os nós.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MONITOR - Observabilidade e Monitoramento Contínuo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Monitoramento fecha o loop infinito do DevOps. É a etapa onde a equipe obtém visibilidade total do sistema em produção - coletando métricas, logs e traces para detectar anomalias, entender comportamentos e alimentar o próximo ciclo de planejamento com dados reais.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4"/>
          <p:cNvSpPr/>
          <p:nvPr/>
        </p:nvSpPr>
        <p:spPr>
          <a:xfrm>
            <a:off x="3634775" y="2786425"/>
            <a:ext cx="2552100" cy="11439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1517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825" lIns="145825" spcFirstLastPara="1" rIns="145825" wrap="square" tIns="145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3"/>
          </a:p>
        </p:txBody>
      </p:sp>
      <p:sp>
        <p:nvSpPr>
          <p:cNvPr id="124" name="Google Shape;124;p24"/>
          <p:cNvSpPr/>
          <p:nvPr/>
        </p:nvSpPr>
        <p:spPr>
          <a:xfrm>
            <a:off x="3793277" y="2944927"/>
            <a:ext cx="18765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Raleway"/>
              <a:buNone/>
            </a:pPr>
            <a:r>
              <a:rPr i="0" lang="pt-BR" sz="1408" u="none" cap="none" strike="noStrike">
                <a:solidFill>
                  <a:srgbClr val="000000"/>
                </a:solidFill>
              </a:rPr>
              <a:t>📊</a:t>
            </a:r>
            <a:r>
              <a:rPr i="0" lang="pt-BR" sz="1408" u="none" cap="none" strike="noStrike">
                <a:solidFill>
                  <a:srgbClr val="3C3939"/>
                </a:solidFill>
              </a:rPr>
              <a:t> Métricas</a:t>
            </a:r>
            <a:endParaRPr i="0" sz="1408" u="none" cap="none" strike="noStrike"/>
          </a:p>
        </p:txBody>
      </p:sp>
      <p:sp>
        <p:nvSpPr>
          <p:cNvPr id="125" name="Google Shape;125;p24"/>
          <p:cNvSpPr/>
          <p:nvPr/>
        </p:nvSpPr>
        <p:spPr>
          <a:xfrm>
            <a:off x="3778400" y="3236057"/>
            <a:ext cx="22647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37"/>
              <a:buFont typeface="Roboto"/>
              <a:buNone/>
            </a:pPr>
            <a:r>
              <a:rPr i="0" lang="pt-BR" sz="1037" u="none" cap="none" strike="noStrike">
                <a:solidFill>
                  <a:srgbClr val="3C3939"/>
                </a:solidFill>
              </a:rPr>
              <a:t>Dados numéricos sobre o estado do sistema: CPU, memória, latência, taxa de erro, requisições/segundo</a:t>
            </a:r>
            <a:endParaRPr i="0" sz="1037" u="none" cap="none" strike="noStrike"/>
          </a:p>
        </p:txBody>
      </p:sp>
      <p:sp>
        <p:nvSpPr>
          <p:cNvPr id="126" name="Google Shape;126;p24"/>
          <p:cNvSpPr/>
          <p:nvPr/>
        </p:nvSpPr>
        <p:spPr>
          <a:xfrm>
            <a:off x="6280204" y="2786425"/>
            <a:ext cx="2552100" cy="11439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1517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825" lIns="145825" spcFirstLastPara="1" rIns="145825" wrap="square" tIns="145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3"/>
          </a:p>
        </p:txBody>
      </p:sp>
      <p:sp>
        <p:nvSpPr>
          <p:cNvPr id="127" name="Google Shape;127;p24"/>
          <p:cNvSpPr/>
          <p:nvPr/>
        </p:nvSpPr>
        <p:spPr>
          <a:xfrm>
            <a:off x="6712734" y="2944927"/>
            <a:ext cx="18765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Raleway"/>
              <a:buNone/>
            </a:pPr>
            <a:r>
              <a:rPr i="0" lang="pt-BR" sz="1408" u="none" cap="none" strike="noStrike">
                <a:solidFill>
                  <a:srgbClr val="000000"/>
                </a:solidFill>
              </a:rPr>
              <a:t>📝</a:t>
            </a:r>
            <a:r>
              <a:rPr i="0" lang="pt-BR" sz="1408" u="none" cap="none" strike="noStrike">
                <a:solidFill>
                  <a:srgbClr val="3C3939"/>
                </a:solidFill>
              </a:rPr>
              <a:t> Logs</a:t>
            </a:r>
            <a:endParaRPr i="0" sz="1408" u="none" cap="none" strike="noStrike"/>
          </a:p>
        </p:txBody>
      </p:sp>
      <p:sp>
        <p:nvSpPr>
          <p:cNvPr id="128" name="Google Shape;128;p24"/>
          <p:cNvSpPr/>
          <p:nvPr/>
        </p:nvSpPr>
        <p:spPr>
          <a:xfrm>
            <a:off x="6423829" y="3236057"/>
            <a:ext cx="22647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37"/>
              <a:buFont typeface="Roboto"/>
              <a:buNone/>
            </a:pPr>
            <a:r>
              <a:rPr i="0" lang="pt-BR" sz="1037" u="none" cap="none" strike="noStrike">
                <a:solidFill>
                  <a:srgbClr val="3C3939"/>
                </a:solidFill>
              </a:rPr>
              <a:t>Registros textuais de eventos do sistema: erros, transações, autenticações e ações de usuários</a:t>
            </a:r>
            <a:endParaRPr i="0" sz="1037" u="none" cap="none" strike="noStrike"/>
          </a:p>
        </p:txBody>
      </p:sp>
      <p:sp>
        <p:nvSpPr>
          <p:cNvPr id="129" name="Google Shape;129;p24"/>
          <p:cNvSpPr/>
          <p:nvPr/>
        </p:nvSpPr>
        <p:spPr>
          <a:xfrm>
            <a:off x="3634775" y="4023984"/>
            <a:ext cx="5197200" cy="960300"/>
          </a:xfrm>
          <a:prstGeom prst="roundRect">
            <a:avLst>
              <a:gd fmla="val 5948" name="adj"/>
            </a:avLst>
          </a:prstGeom>
          <a:solidFill>
            <a:srgbClr val="E1E1EA"/>
          </a:solidFill>
          <a:ln cap="flat" cmpd="sng" w="1517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825" lIns="145825" spcFirstLastPara="1" rIns="145825" wrap="square" tIns="145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3"/>
          </a:p>
        </p:txBody>
      </p:sp>
      <p:sp>
        <p:nvSpPr>
          <p:cNvPr id="130" name="Google Shape;130;p24"/>
          <p:cNvSpPr/>
          <p:nvPr/>
        </p:nvSpPr>
        <p:spPr>
          <a:xfrm>
            <a:off x="3778400" y="4167610"/>
            <a:ext cx="17004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6"/>
              <a:buFont typeface="Raleway"/>
              <a:buNone/>
            </a:pPr>
            <a:r>
              <a:rPr i="0" lang="pt-BR" sz="1276" u="none" cap="none" strike="noStrike">
                <a:solidFill>
                  <a:srgbClr val="000000"/>
                </a:solidFill>
              </a:rPr>
              <a:t>🔍</a:t>
            </a:r>
            <a:r>
              <a:rPr i="0" lang="pt-BR" sz="1276" u="none" cap="none" strike="noStrike">
                <a:solidFill>
                  <a:srgbClr val="3C3939"/>
                </a:solidFill>
              </a:rPr>
              <a:t> Traces</a:t>
            </a:r>
            <a:endParaRPr i="0" sz="1276" u="none" cap="none" strike="noStrike"/>
          </a:p>
        </p:txBody>
      </p:sp>
      <p:sp>
        <p:nvSpPr>
          <p:cNvPr id="131" name="Google Shape;131;p24"/>
          <p:cNvSpPr/>
          <p:nvPr/>
        </p:nvSpPr>
        <p:spPr>
          <a:xfrm>
            <a:off x="3778400" y="4473616"/>
            <a:ext cx="49104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37"/>
              <a:buFont typeface="Roboto"/>
              <a:buNone/>
            </a:pPr>
            <a:r>
              <a:rPr i="0" lang="pt-BR" sz="1037" u="none" cap="none" strike="noStrike">
                <a:solidFill>
                  <a:srgbClr val="3C3939"/>
                </a:solidFill>
              </a:rPr>
              <a:t>Rastreamento do caminho de uma requisição através de todos os serviços envolvidos no processamento</a:t>
            </a:r>
            <a:endParaRPr i="0" sz="1037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de versionamento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que é versionamento?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Controle das alterações no código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Histórico completo de mudanças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Possibilidade de voltar versões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Trabalho colaborativo entre desenvolvedores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Funcionamento do Git Distribuído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Cada desenvolvedor possui uma cópia completa do projeto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Commits ficam armazenados localmente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Alterações podem ser sincronizadas com servidores remotos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845" y="1152469"/>
            <a:ext cx="4329149" cy="14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de versionamento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Repositório </a:t>
            </a:r>
            <a:r>
              <a:rPr lang="pt-BR"/>
              <a:t>Local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Fica na máquina do desenvolvedor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Onde os commits são criados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Repositório </a:t>
            </a:r>
            <a:r>
              <a:rPr lang="pt-BR"/>
              <a:t>Remoto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Servidor compartilhado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Exemplo: GitHub, GitLab, Bitbucket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git branch feature-login</a:t>
            </a:r>
            <a:endParaRPr sz="12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git checkout feature-login</a:t>
            </a:r>
            <a:endParaRPr sz="12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git commit -m "Nova tela de login"</a:t>
            </a:r>
            <a:endParaRPr sz="12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git merge feature-login</a:t>
            </a:r>
            <a:endParaRPr sz="1200"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Branch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Linha paralela de desenvolvimento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Permite criar funcionalidades sem afetar a principal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Merge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Junta alterações de branches diferentes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Rebase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Reorganiza o histórico de commits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Mantém histórico mais linear e limpo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 distribuído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Cada desenvolvedor possui uma cópia completa do repositório, permitindo commits e histórico armazenados localmente.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modelo distribuído oferece trabalho offline, maior segurança dos dados e independência do servidor central.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 equipes sincronizam alterações usando push e pull, facilitando colaboração contínua e desenvolvimento paralelo.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Repositórios locais/remotos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Repositórios locais permitem desenvolvimento individual, enquanto remotos facilitam colaboração, sincronização e backup do código.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comando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git clone</a:t>
            </a:r>
            <a:r>
              <a:rPr lang="pt-BR"/>
              <a:t> copia um repositório remoto completo para a máquina local. Exemplo: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git clone https://github.com/projeto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comando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git pull</a:t>
            </a:r>
            <a:r>
              <a:rPr lang="pt-BR"/>
              <a:t> baixa e atualiza alterações do servidor no projeto local. Exemplo: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git pull origin main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comando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git push</a:t>
            </a:r>
            <a:r>
              <a:rPr lang="pt-BR"/>
              <a:t> envia commits locais para o repositório remoto compartilhado. Exemplo: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git push origin main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Branches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uso de branches permite que diferentes desenvolvedores trabalhem simultaneamente em funcionalidades distintas sem conflitos imediatos.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 alterações ficam isoladas até serem integradas ao projeto principal, aumentando segurança e organização do desenvolvimento.</a:t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350" y="2810862"/>
            <a:ext cx="6211301" cy="225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Merge e rebase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merge une alterações de diferentes branches, preservando o histórico original dos commits realizados no projeto. </a:t>
            </a:r>
            <a:endParaRPr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Exemplo: </a:t>
            </a: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git merge feature-login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rebase reorganiza commits sobre outra branch, criando um histórico mais linear e limpo para desenvolvimento. </a:t>
            </a:r>
            <a:endParaRPr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Exemplo: </a:t>
            </a: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git rebase main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Merge mantém o histórico completo, enquanto rebase simplifica a visualização e organização das alterações realizadas.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 Flow</a:t>
            </a:r>
            <a:endParaRPr/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Modelo de organização de branches utilizado para controlar o desenvolvimento e as versões de um projeto.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Utiliza branches principais como main e develop para separar produção e desenvolvimento.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Cria branches feature para desenvolver novas funcionalidades de forma isolada e organizada.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Usa branches release para preparar versões antes da publicação em produção.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Utiliza branches hotfix para corrigir rapidamente erros críticos encontrados em produção.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 Flow - Exemplo de Utilização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equipe estava desenvolvendo um sistema de vendas com vários programadores trabalhando ao mesmo tempo. Para evitar bagunça no código, eles decidiram usar o Git Flow.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branch main</a:t>
            </a:r>
            <a:r>
              <a:rPr lang="pt-BR"/>
              <a:t> representava a versão estável em produção. 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branch develop </a:t>
            </a:r>
            <a:r>
              <a:rPr lang="pt-BR"/>
              <a:t>era usada para reunir todas as novas funcionalidades em desenvolvimento. Sempre que alguém criava uma nova funcionalidade, como “cadastro de clientes”, abria uma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branch feature/cadastro-clientes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 Flow - Exemplo de Utilização</a:t>
            </a:r>
            <a:endParaRPr/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Quando as funcionalidades ficavam prontas, eram integradas na develop. Antes da publicação do sistema, a equipe criava uma branch release para testes finais e ajustes. Depois da aprovação, o código era enviado para 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pt-BR"/>
              <a:t>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Certo dia, um erro crítico apareceu em produção. Para corrigir rapidamente sem parar o desenvolvimento das outras funcionalidades, a equipe criou uma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branch hotfix</a:t>
            </a:r>
            <a:r>
              <a:rPr lang="pt-BR"/>
              <a:t>. Após a correção, ela foi integrada tanto na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main </a:t>
            </a:r>
            <a:r>
              <a:rPr lang="pt-BR"/>
              <a:t>quanto na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develop</a:t>
            </a:r>
            <a:r>
              <a:rPr lang="pt-BR"/>
              <a:t>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Com o Git Flow, a equipe conseguiu organizar melhor o desenvolvimento, evitar conflitos e entregar versões mais seguras do sistema.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Gerenciamento de Configuração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Gerenciamento de configuração é o controle e padronização de todos os elementos necessários para executar um software corretamente.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que deve ser gerenciado?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Código-fonte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Bibliotecas e dependências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Variáveis de ambiente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Arquivos de configuração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Scripts de build e deploy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Infraestrutura do sistema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Se não está versionado, não existe.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Baselines</a:t>
            </a:r>
            <a:endParaRPr/>
          </a:p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Baseline é uma versão estável e aprovada do sistema usada como referência no desenvolvimento.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Objetivo é permite identificar versões confiáveis do software para testes, homologação e produção.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Importância para auditoria: 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Facilita rastreamento de mudanças, histórico de alterações e verificação das versões publicadas.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Possibilita restaurar versões anteriores rapidamente em caso de falhas ou problemas em produção.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Controle de mudanças</a:t>
            </a:r>
            <a:endParaRPr/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Todas as modificações realizadas no sistema devem ser documentadas e versionadas ao longo do projeto. Mudanças podem ser revisadas, aprovadas e acompanhadas por meio de commits, branches e pull requests.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controle de mudanças evita alterações incorretas, conflitos entre equipes e inconsistências no sistema.</a:t>
            </a:r>
            <a:endParaRPr/>
          </a:p>
        </p:txBody>
      </p:sp>
      <p:pic>
        <p:nvPicPr>
          <p:cNvPr id="207" name="Google Shape;2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00" y="3483181"/>
            <a:ext cx="8957600" cy="12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Pull Request e Code Review</a:t>
            </a:r>
            <a:endParaRPr/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Pull Request é o processo utilizado para solicitar a integração de alterações ao repositório principal após o desenvolvimento de novas funcionalidades ou correções.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Antes do merge, o código passa por revisão colaborativa (Code Review), permitindo análise técnica, discussão de melhorias e validação das alterações realizadas.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Esse processo ajuda a identificar erros, vulnerabilidades, problemas de padrão e oportunidades de refatoração, aumentando a qualidade e confiabilidade do software.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Auditoria e </a:t>
            </a:r>
            <a:r>
              <a:rPr lang="pt-BR"/>
              <a:t>Rastreabilidade</a:t>
            </a:r>
            <a:endParaRPr/>
          </a:p>
        </p:txBody>
      </p:sp>
      <p:sp>
        <p:nvSpPr>
          <p:cNvPr id="219" name="Google Shape;21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Permite registrar e acompanhar todas as alterações realizadas no projeto durante o desenvolvimento do software.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Cada commit pode ser associado a testes executados, correções realizadas e versões publicadas do sistema.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Facilita descobrir quando um erro surgiu, quem realizou a alteração e qual versão foi afetada.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Integração Contínua (CI)</a:t>
            </a:r>
            <a:endParaRPr/>
          </a:p>
        </p:txBody>
      </p:sp>
      <p:sp>
        <p:nvSpPr>
          <p:cNvPr id="225" name="Google Shape;22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Prática de integrar alterações de código frequentemente em um repositório compartilhado.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Cada novo commit executa automaticamente: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Build da aplicação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Testes automatizados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Validação do código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Verificação de falhas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 </a:t>
            </a:r>
            <a:r>
              <a:rPr b="1" lang="pt-BR"/>
              <a:t>Objetivo</a:t>
            </a:r>
            <a:r>
              <a:rPr lang="pt-BR"/>
              <a:t>: detectar problemas cedo e sempre poder voltar versão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 Contínua (CD)</a:t>
            </a:r>
            <a:endParaRPr/>
          </a:p>
        </p:txBody>
      </p:sp>
      <p:sp>
        <p:nvSpPr>
          <p:cNvPr id="231" name="Google Shape;23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Prática de automatizar a preparação e disponibilização do software para produção de forma rápida e confiável.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Cada nova versão aprovada executa automaticamente: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Build da aplicação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Testes automatizados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Validação do ambiente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Geração da release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Preparação para deploy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Objetivo</a:t>
            </a:r>
            <a:r>
              <a:rPr lang="pt-BR"/>
              <a:t>: Reduzir riscos na entrega e manter o software sempre pronto para publicação em produção.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Deploy Contínuo</a:t>
            </a:r>
            <a:endParaRPr/>
          </a:p>
        </p:txBody>
      </p:sp>
      <p:sp>
        <p:nvSpPr>
          <p:cNvPr id="237" name="Google Shape;23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Prática de publicar automaticamente novas versões em produção após aprovação nos testes e validações do pipeline.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Cada alteração aprovada executa automaticamente: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Build da aplicação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Testes automatizados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Validação de qualidade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Deploy em produção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Monitoramento da aplicação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Objetivo</a:t>
            </a:r>
            <a:r>
              <a:rPr lang="pt-BR"/>
              <a:t>: Automatizar o processo de publicação do software em produção.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Cultura DevOps - Modelo CALMS</a:t>
            </a:r>
            <a:endParaRPr/>
          </a:p>
        </p:txBody>
      </p:sp>
      <p:sp>
        <p:nvSpPr>
          <p:cNvPr id="243" name="Google Shape;243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 sz="1300"/>
              <a:t>Culture</a:t>
            </a:r>
            <a:r>
              <a:rPr lang="pt-BR" sz="1300"/>
              <a:t>: Colaboração entre desenvolvimento, operações e negócios para reduzir barreiras entre equipes.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 sz="1300"/>
              <a:t>Automation</a:t>
            </a:r>
            <a:r>
              <a:rPr lang="pt-BR" sz="1300"/>
              <a:t>: Automação de testes, builds, deploys e processos repetitivos para aumentar velocidade e confiabilidade.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 sz="1300"/>
              <a:t>Lean</a:t>
            </a:r>
            <a:r>
              <a:rPr lang="pt-BR" sz="1300"/>
              <a:t>: Eliminação de desperdícios, redução de retrabalho e foco na entrega contínua de valor.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 sz="1300"/>
              <a:t>Measurement</a:t>
            </a:r>
            <a:r>
              <a:rPr lang="pt-BR" sz="1300"/>
              <a:t>: Monitoramento de métricas, desempenho, falhas e qualidade para apoiar decisões e melhorias.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BR" sz="1300"/>
              <a:t>Sharing</a:t>
            </a:r>
            <a:r>
              <a:rPr lang="pt-BR" sz="1300"/>
              <a:t>: Compartilhamento de conhecimento, responsabilidades e aprendizado contínuo entre as equipes.</a:t>
            </a:r>
            <a:endParaRPr sz="1300"/>
          </a:p>
        </p:txBody>
      </p:sp>
      <p:pic>
        <p:nvPicPr>
          <p:cNvPr id="244" name="Google Shape;244;p42"/>
          <p:cNvPicPr preferRelativeResize="0"/>
          <p:nvPr/>
        </p:nvPicPr>
        <p:blipFill rotWithShape="1">
          <a:blip r:embed="rId3">
            <a:alphaModFix/>
          </a:blip>
          <a:srcRect b="49416" l="0" r="0" t="0"/>
          <a:stretch/>
        </p:blipFill>
        <p:spPr>
          <a:xfrm>
            <a:off x="1018878" y="3500325"/>
            <a:ext cx="7106237" cy="132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Cultura </a:t>
            </a:r>
            <a:r>
              <a:rPr lang="pt-BR"/>
              <a:t>DevOps - </a:t>
            </a:r>
            <a:r>
              <a:rPr lang="pt-BR"/>
              <a:t>3 Ways </a:t>
            </a:r>
            <a:endParaRPr/>
          </a:p>
        </p:txBody>
      </p:sp>
      <p:sp>
        <p:nvSpPr>
          <p:cNvPr id="250" name="Google Shape;250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Flow</a:t>
            </a:r>
            <a:r>
              <a:rPr lang="pt-BR"/>
              <a:t>: Melhorar o fluxo de trabalho e acelerar a entrega de software.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Feedback</a:t>
            </a:r>
            <a:r>
              <a:rPr lang="pt-BR"/>
              <a:t>: Criar feedback rápido para identificar problemas o mais cedo possível.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Continuous Learning</a:t>
            </a:r>
            <a:r>
              <a:rPr lang="pt-BR"/>
              <a:t>: Promover aprendizado contínuo, experimentação e melhoria constante dos processos.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DevOps é mais sobre cultura e colaboração do que apenas ferramentas.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DevOps - </a:t>
            </a:r>
            <a:r>
              <a:rPr lang="pt-BR"/>
              <a:t>Benefícios organizacionais</a:t>
            </a:r>
            <a:endParaRPr/>
          </a:p>
        </p:txBody>
      </p:sp>
      <p:sp>
        <p:nvSpPr>
          <p:cNvPr id="256" name="Google Shape;256;p4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Automação e integração contínua permitem releases mais rápidas e frequentes no desenvolvimento de software.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Testes automatizados e padronização diminuem erros, inconsistências e problemas em produção.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DevOps promove colaboração entre desenvolvimento, testes e operações, melhorando comunicação e produtividade.</a:t>
            </a:r>
            <a:endParaRPr sz="1500"/>
          </a:p>
        </p:txBody>
      </p:sp>
      <p:pic>
        <p:nvPicPr>
          <p:cNvPr id="257" name="Google Shape;25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762663"/>
            <a:ext cx="4267201" cy="2196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63" name="Google Shape;26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HUMBLE, Jez; PRIKLANDNICKI, Rafael. Entrega contínua: como entregar software de forma rápida e confiável. São Paulo: Bookman, 2013.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SILVERMAN, R. E. Git: guia prático. São Paulo: Novatec, 2019.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SATO, Danilo. DevOps na prática: entrega de software confiável e automatizada. São Paulo: Casa do Código, 2014.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